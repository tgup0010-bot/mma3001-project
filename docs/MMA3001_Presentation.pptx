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C8FF"/>
                </a:solidFill>
              </a:rPr>
              <a:t>MMA3001  ·  Individual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Predicting Indoor CO2
Concentration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52044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CCDDFF"/>
                </a:solidFill>
              </a:rPr>
              <a:t>Using recent sensor history and building occupancy
to give a 15-minute early warning for ventilation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577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Tanmay Gupta  ·  Monash University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6080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DEEFF"/>
                </a:solidFill>
              </a:rPr>
              <a:t>Dataset 2: Monash Smart Infrastructure  ·  Week 5 Regression  ·  Week 6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8FF"/>
                </a:solidFill>
              </a:rPr>
              <a:t>Why predict CO2 at all?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62356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11457432" cy="9601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2704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Most building systems only react AFTER CO2 is already too high.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606040"/>
            <a:ext cx="5394960" cy="2468880"/>
          </a:xfrm>
          <a:prstGeom prst="rect">
            <a:avLst/>
          </a:prstGeom>
          <a:solidFill>
            <a:srgbClr val="E8F0FA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606040"/>
            <a:ext cx="54864" cy="246888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6974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A1A1A"/>
                </a:solidFill>
              </a:rPr>
              <a:t>What we're doing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Predict CO2 level 15 minutes from now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Use the last hour of sensor readings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Include how many people are in the building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Give ventilation a head start before air goes bad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2606040"/>
            <a:ext cx="5788152" cy="2468880"/>
          </a:xfrm>
          <a:prstGeom prst="rect">
            <a:avLst/>
          </a:prstGeom>
          <a:solidFill>
            <a:srgbClr val="E8F0FA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0" y="2606040"/>
            <a:ext cx="54864" cy="246888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2697480"/>
            <a:ext cx="5394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A1A1A"/>
                </a:solidFill>
              </a:rPr>
              <a:t>Why it matters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CO2 above ~800 ppm makes people less alert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Proactive ventilation = better air + less energy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15 min is enough time for a building system to act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Regression task — predicting a number, not a category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5257800"/>
            <a:ext cx="11457432" cy="68580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3309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All four Week 5 regression methods were compared on real data — no single method was assumed to be best.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Data — Inputs and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8FF"/>
                </a:solidFill>
              </a:rPr>
              <a:t>What goes in, what comes 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62356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1920240" cy="86868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444752"/>
            <a:ext cx="18288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Current CO2
(ppm)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58568" y="1627632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2B5C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1417320"/>
            <a:ext cx="1920240" cy="86868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40" y="1444752"/>
            <a:ext cx="18288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CO2
15 min ago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1627632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2B5C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0600" y="1417320"/>
            <a:ext cx="1920240" cy="86868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1444752"/>
            <a:ext cx="18288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1-hr rolling
average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9128" y="1627632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2B5C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0" y="1417320"/>
            <a:ext cx="1920240" cy="86868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86600" y="1444752"/>
            <a:ext cx="18288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Occupancy
count (0–5)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79408" y="1627632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2B5C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81160" y="1417320"/>
            <a:ext cx="1920240" cy="86868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1444752"/>
            <a:ext cx="18288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Time of day
&amp; day of week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48288" y="1627632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2B5C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750040" y="1325880"/>
            <a:ext cx="2240280" cy="10515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795760" y="1371600"/>
            <a:ext cx="2103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C107"/>
                </a:solidFill>
              </a:rPr>
              <a:t>CO2 in
15 minutes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24871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Source: MMA3001 Dataset 2 — Monash Smart Infrastructure. 5 occupancy zones, 5 environmental sensors.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926080"/>
            <a:ext cx="5486400" cy="2743200"/>
          </a:xfrm>
          <a:prstGeom prst="rect">
            <a:avLst/>
          </a:prstGeom>
          <a:solidFill>
            <a:srgbClr val="E8F0FA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2926080"/>
            <a:ext cx="54864" cy="27432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2999232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1A1A1A"/>
                </a:solidFill>
              </a:rPr>
              <a:t>Sensor chosen: 6012002000326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1A1A1A"/>
                </a:solidFill>
              </a:rPr>
              <a:t>  • Long continuous coverage (3+ years of real data)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1A1A1A"/>
                </a:solidFill>
              </a:rPr>
              <a:t>  • Validated against Bureau of Meteorology: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1A1A1A"/>
                </a:solidFill>
              </a:rPr>
              <a:t>   Temperature: r = +0.84 over 222 days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1A1A1A"/>
                </a:solidFill>
              </a:rPr>
              <a:t>   Humidity: r = +0.65 over 222 days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1A1A1A"/>
                </a:solidFill>
              </a:rPr>
              <a:t>  • Strong evidence it's actually measuring something real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2926080"/>
            <a:ext cx="5696712" cy="2743200"/>
          </a:xfrm>
          <a:prstGeom prst="rect">
            <a:avLst/>
          </a:prstGeom>
          <a:solidFill>
            <a:srgbClr val="E8F0FA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26480" y="2926080"/>
            <a:ext cx="54864" cy="2743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2999232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1A1A1A"/>
                </a:solidFill>
              </a:rPr>
              <a:t>Why the other 4 sensors were excluded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1A1A1A"/>
                </a:solidFill>
              </a:rPr>
              <a:t>  • 2 sensors: frozen internal clock — every reading has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1A1A1A"/>
                </a:solidFill>
              </a:rPr>
              <a:t>   the same timestamp → useless as time series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1A1A1A"/>
                </a:solidFill>
              </a:rPr>
              <a:t>  • 1 sensor: only 4 months of data — too short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1A1A1A"/>
                </a:solidFill>
              </a:rPr>
              <a:t>  • 1 sensor: lower quality, less validation evidence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1A1A1A"/>
                </a:solidFill>
              </a:rPr>
              <a:t>  • None of this was documented in the dataset description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Methods — 4 Regression Models (Week 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8FF"/>
                </a:solidFill>
              </a:rPr>
              <a:t>All four compared — none assumed to be best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62356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Each model runs through the same StandardScaler step so the comparison is fair. Same training data, same test split.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20240"/>
            <a:ext cx="2743200" cy="50292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Linear Regression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23160"/>
            <a:ext cx="274320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514600"/>
            <a:ext cx="2468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Fits a straight line through the data.
Simplest, most interpretable. Good baseline.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920240"/>
            <a:ext cx="2743200" cy="502920"/>
          </a:xfrm>
          <a:prstGeom prst="rect">
            <a:avLst/>
          </a:prstGeom>
          <a:solidFill>
            <a:srgbClr val="6C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9659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Decision Tree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423160"/>
            <a:ext cx="274320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6C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514600"/>
            <a:ext cx="2468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Splits into if/else regions (max depth 8).
Can catch combos like 'busy + afternoon'
that a line misses.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920240"/>
            <a:ext cx="2743200" cy="50292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659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SVR (RBF kernel)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423160"/>
            <a:ext cx="274320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514600"/>
            <a:ext cx="2468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Fits a smooth curve, ignores small errors.
C=10, ε=0.5. Good for mild nonlinearity
on a dataset this size.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81160" y="1920240"/>
            <a:ext cx="2743200" cy="502920"/>
          </a:xfrm>
          <a:prstGeom prst="rect">
            <a:avLst/>
          </a:prstGeom>
          <a:solidFill>
            <a:srgbClr val="D4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19659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Neural Network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81160" y="2423160"/>
            <a:ext cx="274320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D4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2514600"/>
            <a:ext cx="2468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Two hidden layers (32 + 16 units).
Most flexible but also most likely
to overfit on limited data.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760720"/>
            <a:ext cx="11457432" cy="640080"/>
          </a:xfrm>
          <a:prstGeom prst="rect">
            <a:avLst/>
          </a:prstGeom>
          <a:solidFill>
            <a:srgbClr val="E8F0FA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8338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2B5C"/>
                </a:solidFill>
              </a:rPr>
              <a:t>💡  Occupancy was included as something to TEST — not assumed to be useful. Results in next slide.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Results — How Each Model Performed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8FF"/>
                </a:solidFill>
              </a:rPr>
              <a:t>Chronological split: train up to 11 Mar 2026, test after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62356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8988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17,010 rows  ·  80% train / 20% test  ·  Split by time — no random shuffling (that would inflate results)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74519"/>
            <a:ext cx="3200400" cy="4572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1874519"/>
            <a:ext cx="2468880" cy="4572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1920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MAE (ppm)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874519"/>
            <a:ext cx="2377440" cy="4572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59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RMSE (ppm)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1874519"/>
            <a:ext cx="2011680" cy="4572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19202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R²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789920" y="1874519"/>
            <a:ext cx="1280160" cy="4572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81360" y="1920240"/>
            <a:ext cx="1188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331720"/>
            <a:ext cx="3200400" cy="502920"/>
          </a:xfrm>
          <a:prstGeom prst="rect">
            <a:avLst/>
          </a:prstGeom>
          <a:solidFill>
            <a:srgbClr val="F0F4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40487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Linear Regression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2331720"/>
            <a:ext cx="2468880" cy="502920"/>
          </a:xfrm>
          <a:prstGeom prst="rect">
            <a:avLst/>
          </a:prstGeom>
          <a:solidFill>
            <a:srgbClr val="F0F4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39" y="240487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9.012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331720"/>
            <a:ext cx="2377440" cy="502920"/>
          </a:xfrm>
          <a:prstGeom prst="rect">
            <a:avLst/>
          </a:prstGeom>
          <a:solidFill>
            <a:srgbClr val="F0F4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59" y="24048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25.579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0" y="2331720"/>
            <a:ext cx="2011680" cy="502920"/>
          </a:xfrm>
          <a:prstGeom prst="rect">
            <a:avLst/>
          </a:prstGeom>
          <a:solidFill>
            <a:srgbClr val="F0F4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24048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0.358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789920" y="2331720"/>
            <a:ext cx="1280160" cy="502920"/>
          </a:xfrm>
          <a:prstGeom prst="rect">
            <a:avLst/>
          </a:prstGeom>
          <a:solidFill>
            <a:srgbClr val="F0F4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881360" y="2404872"/>
            <a:ext cx="1188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843784"/>
            <a:ext cx="3200400" cy="502920"/>
          </a:xfrm>
          <a:prstGeom prst="rect">
            <a:avLst/>
          </a:prstGeom>
          <a:solidFill>
            <a:srgbClr val="FFF0F0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291693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Decision Tree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0" y="2843784"/>
            <a:ext cx="2468880" cy="502920"/>
          </a:xfrm>
          <a:prstGeom prst="rect">
            <a:avLst/>
          </a:prstGeom>
          <a:solidFill>
            <a:srgbClr val="FFF0F0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39" y="2916936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392B"/>
                </a:solidFill>
              </a:rPr>
              <a:t>9.353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2843784"/>
            <a:ext cx="2377440" cy="502920"/>
          </a:xfrm>
          <a:prstGeom prst="rect">
            <a:avLst/>
          </a:prstGeom>
          <a:solidFill>
            <a:srgbClr val="FFF0F0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59" y="291693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392B"/>
                </a:solidFill>
              </a:rPr>
              <a:t>28.708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86800" y="2843784"/>
            <a:ext cx="2011680" cy="502920"/>
          </a:xfrm>
          <a:prstGeom prst="rect">
            <a:avLst/>
          </a:prstGeom>
          <a:solidFill>
            <a:srgbClr val="FFF0F0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0" y="2916936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392B"/>
                </a:solidFill>
              </a:rPr>
              <a:t>0.191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789920" y="2843784"/>
            <a:ext cx="1280160" cy="502920"/>
          </a:xfrm>
          <a:prstGeom prst="rect">
            <a:avLst/>
          </a:prstGeom>
          <a:solidFill>
            <a:srgbClr val="FFF0F0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881360" y="2916936"/>
            <a:ext cx="1188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⚠ worst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355848"/>
            <a:ext cx="3200400" cy="502920"/>
          </a:xfrm>
          <a:prstGeom prst="rect">
            <a:avLst/>
          </a:prstGeom>
          <a:solidFill>
            <a:srgbClr val="E8F8EE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4290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</a:rPr>
              <a:t>SVR  ← Best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0" y="3355848"/>
            <a:ext cx="2468880" cy="502920"/>
          </a:xfrm>
          <a:prstGeom prst="rect">
            <a:avLst/>
          </a:prstGeom>
          <a:solidFill>
            <a:srgbClr val="E8F8EE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39" y="3429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A4A"/>
                </a:solidFill>
              </a:rPr>
              <a:t>8.350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3355848"/>
            <a:ext cx="2377440" cy="502920"/>
          </a:xfrm>
          <a:prstGeom prst="rect">
            <a:avLst/>
          </a:prstGeom>
          <a:solidFill>
            <a:srgbClr val="E8F8EE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59" y="3429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A4A"/>
                </a:solidFill>
              </a:rPr>
              <a:t>25.894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86800" y="3355848"/>
            <a:ext cx="2011680" cy="502920"/>
          </a:xfrm>
          <a:prstGeom prst="rect">
            <a:avLst/>
          </a:prstGeom>
          <a:solidFill>
            <a:srgbClr val="E8F8EE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78240" y="34290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A4A"/>
                </a:solidFill>
              </a:rPr>
              <a:t>0.342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789920" y="3355848"/>
            <a:ext cx="1280160" cy="502920"/>
          </a:xfrm>
          <a:prstGeom prst="rect">
            <a:avLst/>
          </a:prstGeom>
          <a:solidFill>
            <a:srgbClr val="E8F8EE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881360" y="3429000"/>
            <a:ext cx="1188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</a:rPr>
              <a:t>✓ best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867912"/>
            <a:ext cx="3200400" cy="502920"/>
          </a:xfrm>
          <a:prstGeom prst="rect">
            <a:avLst/>
          </a:prstGeom>
          <a:solidFill>
            <a:srgbClr val="F0F4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394106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Neural Network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0" y="3867912"/>
            <a:ext cx="2468880" cy="502920"/>
          </a:xfrm>
          <a:prstGeom prst="rect">
            <a:avLst/>
          </a:prstGeom>
          <a:solidFill>
            <a:srgbClr val="F0F4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49039" y="394106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9.350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17920" y="3867912"/>
            <a:ext cx="2377440" cy="502920"/>
          </a:xfrm>
          <a:prstGeom prst="rect">
            <a:avLst/>
          </a:prstGeom>
          <a:solidFill>
            <a:srgbClr val="F0F4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09359" y="394106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26.015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686800" y="3867912"/>
            <a:ext cx="2011680" cy="502920"/>
          </a:xfrm>
          <a:prstGeom prst="rect">
            <a:avLst/>
          </a:prstGeom>
          <a:solidFill>
            <a:srgbClr val="F0F4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78240" y="3941064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0.336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789920" y="3867912"/>
            <a:ext cx="1280160" cy="502920"/>
          </a:xfrm>
          <a:prstGeom prst="rect">
            <a:avLst/>
          </a:prstGeom>
          <a:solidFill>
            <a:srgbClr val="F0F4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881360" y="3941064"/>
            <a:ext cx="1188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/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4526280"/>
            <a:ext cx="5303520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8640" y="457200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C107"/>
                </a:solidFill>
              </a:rPr>
              <a:t>8.35 ppm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5166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average error — SVR (best model)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89320" y="4526280"/>
            <a:ext cx="5833872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72200" y="45720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C107"/>
                </a:solidFill>
              </a:rPr>
              <a:t>R² ≈ 0.34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72200" y="5166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explains ~1/3 of variance — moderate result, reported honestly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" y="5760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55555"/>
                </a:solidFill>
              </a:rPr>
              <a:t>Decision Tree was the worst — likely memorised the training period's patterns rather than learning something general.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Finding — Does Occupancy Actually Help?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8FF"/>
                </a:solidFill>
              </a:rPr>
              <a:t>Tested with and without for every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62356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3383280" cy="4114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1417320"/>
            <a:ext cx="2651760" cy="4114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1463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R² with occupancy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417320"/>
            <a:ext cx="2468880" cy="4114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4630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R² without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1417320"/>
            <a:ext cx="2926080" cy="4114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0" y="14630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Verdict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828800"/>
            <a:ext cx="3383280" cy="457200"/>
          </a:xfrm>
          <a:prstGeom prst="rect">
            <a:avLst/>
          </a:prstGeom>
          <a:solidFill>
            <a:srgbClr val="F0F4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911095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Linear Regression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1828800"/>
            <a:ext cx="2651760" cy="457200"/>
          </a:xfrm>
          <a:prstGeom prst="rect">
            <a:avLst/>
          </a:prstGeom>
          <a:solidFill>
            <a:srgbClr val="F0F4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0" y="1911095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0.3581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1828800"/>
            <a:ext cx="2468880" cy="457200"/>
          </a:xfrm>
          <a:prstGeom prst="rect">
            <a:avLst/>
          </a:prstGeom>
          <a:solidFill>
            <a:srgbClr val="F0F4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911095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0.3579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828800"/>
            <a:ext cx="2926080" cy="457200"/>
          </a:xfrm>
          <a:prstGeom prst="rect">
            <a:avLst/>
          </a:prstGeom>
          <a:solidFill>
            <a:srgbClr val="F0F4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911095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No difference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304288"/>
            <a:ext cx="3383280" cy="457200"/>
          </a:xfrm>
          <a:prstGeom prst="rect">
            <a:avLst/>
          </a:prstGeom>
          <a:solidFill>
            <a:srgbClr val="FFF0F0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38658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Decision Tree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0" y="2304288"/>
            <a:ext cx="2651760" cy="457200"/>
          </a:xfrm>
          <a:prstGeom prst="rect">
            <a:avLst/>
          </a:prstGeom>
          <a:solidFill>
            <a:srgbClr val="FFF0F0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0" y="238658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0.1914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2304288"/>
            <a:ext cx="2468880" cy="457200"/>
          </a:xfrm>
          <a:prstGeom prst="rect">
            <a:avLst/>
          </a:prstGeom>
          <a:solidFill>
            <a:srgbClr val="FFF0F0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238658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0.3305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0" y="2304288"/>
            <a:ext cx="2926080" cy="457200"/>
          </a:xfrm>
          <a:prstGeom prst="rect">
            <a:avLst/>
          </a:prstGeom>
          <a:solidFill>
            <a:srgbClr val="FFF0F0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0" y="238658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</a:rPr>
              <a:t>Gets WORSE 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2779776"/>
            <a:ext cx="3383280" cy="457200"/>
          </a:xfrm>
          <a:prstGeom prst="rect">
            <a:avLst/>
          </a:prstGeom>
          <a:solidFill>
            <a:srgbClr val="F0F4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286207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SVR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40480" y="2779776"/>
            <a:ext cx="2651760" cy="457200"/>
          </a:xfrm>
          <a:prstGeom prst="rect">
            <a:avLst/>
          </a:prstGeom>
          <a:solidFill>
            <a:srgbClr val="F0F4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31920" y="28620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0.3422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2779776"/>
            <a:ext cx="2468880" cy="457200"/>
          </a:xfrm>
          <a:prstGeom prst="rect">
            <a:avLst/>
          </a:prstGeom>
          <a:solidFill>
            <a:srgbClr val="F0F4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286207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0.3438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0" y="2779776"/>
            <a:ext cx="2926080" cy="457200"/>
          </a:xfrm>
          <a:prstGeom prst="rect">
            <a:avLst/>
          </a:prstGeom>
          <a:solidFill>
            <a:srgbClr val="F0F4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5440" y="286207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No real difference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3255264"/>
            <a:ext cx="3383280" cy="457200"/>
          </a:xfrm>
          <a:prstGeom prst="rect">
            <a:avLst/>
          </a:prstGeom>
          <a:solidFill>
            <a:srgbClr val="F0F4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33375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Neural Network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0" y="3255264"/>
            <a:ext cx="2651760" cy="457200"/>
          </a:xfrm>
          <a:prstGeom prst="rect">
            <a:avLst/>
          </a:prstGeom>
          <a:solidFill>
            <a:srgbClr val="F0F4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31920" y="3337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0.3360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0" y="3255264"/>
            <a:ext cx="2468880" cy="457200"/>
          </a:xfrm>
          <a:prstGeom prst="rect">
            <a:avLst/>
          </a:prstGeom>
          <a:solidFill>
            <a:srgbClr val="F0F4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33375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0.3352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3255264"/>
            <a:ext cx="2926080" cy="457200"/>
          </a:xfrm>
          <a:prstGeom prst="rect">
            <a:avLst/>
          </a:prstGeom>
          <a:solidFill>
            <a:srgbClr val="F0F4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35440" y="33375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No difference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3840480"/>
            <a:ext cx="11457432" cy="685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3931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Occupancy does not improve predictions for any model. For Decision Tree it actively made things worse.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4663440"/>
            <a:ext cx="11457432" cy="1188720"/>
          </a:xfrm>
          <a:prstGeom prst="rect">
            <a:avLst/>
          </a:prstGeom>
          <a:solidFill>
            <a:srgbClr val="E8F0FA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4736592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A1A1A"/>
                </a:solidFill>
              </a:rPr>
              <a:t>Why? The sensor has no documented room location.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It is not in the official Sensor ID spreadsheet — no way to know which occupancy zone to pair it with.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A separate correlation check across all 5 zones found max |r| ≤ 0.06 for CO2.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This is a finding — it was tested properly and reported honestly, not hidden.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Missing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8FF"/>
                </a:solidFill>
              </a:rPr>
              <a:t>What was found and how it was handled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62356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394960" cy="2560320"/>
          </a:xfrm>
          <a:prstGeom prst="rect">
            <a:avLst/>
          </a:prstGeom>
          <a:solidFill>
            <a:srgbClr val="E8F0FA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4864" cy="2560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90472"/>
            <a:ext cx="5029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A1A1A"/>
                </a:solidFill>
              </a:rPr>
              <a:t>The scale of the gaps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Longest outage: ~636 days of missing data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Readings are not evenly spaced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84,576 candidate rows in raw data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Only 17,010 (20%) had all required values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Rest were dropped — not filled with made-up numbers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1417320"/>
            <a:ext cx="5742432" cy="2560320"/>
          </a:xfrm>
          <a:prstGeom prst="rect">
            <a:avLst/>
          </a:prstGeom>
          <a:solidFill>
            <a:srgbClr val="E8F0FA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1417320"/>
            <a:ext cx="54864" cy="256032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490472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A1A1A"/>
                </a:solidFill>
              </a:rPr>
              <a:t>How it was handled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Any row missing lag / rolling average / target → dropped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No interpolation across the 636-day gap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Integration step needed a separate fix (next slide)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All of this is documented in the report, not hidden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160520"/>
            <a:ext cx="11457432" cy="4114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187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C107"/>
                </a:solidFill>
              </a:rPr>
              <a:t>Other data quality issues found along the way: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572000"/>
            <a:ext cx="11457432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645152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Two sensors had frozen internal clocks — every reading has the same timestamp. Found by profiling, not documented anywhere.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The occupancy log file was named "MayToDec2024" but actually covers November 2023 to April 2026. Only found by checking real timestamps.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Numerical Integration —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8FF"/>
                </a:solidFill>
              </a:rPr>
              <a:t>Calculating total CO2 exposure over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62356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8988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A sensor gives a snapshot at each moment — but you might want to know total exposure over a day (ppm·hours = area under the curve).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74519"/>
            <a:ext cx="11457432" cy="1371600"/>
          </a:xfrm>
          <a:prstGeom prst="rect">
            <a:avLst/>
          </a:prstGeom>
          <a:solidFill>
            <a:srgbClr val="FFF0F0"/>
          </a:solidFill>
          <a:ln w="1524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47672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A1A1A"/>
                </a:solidFill>
              </a:rPr>
              <a:t>🐛  Bug found during the project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First version: resampled onto a 15-min grid, dropped missing bins, then integrated.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Problem: readings either side of the 636-day gap looked like they were 15 minutes apart.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Result: Simpson's gave ~1.1M ppm·h vs trapezoidal ~9.5M ppm·h. A 9× gap = something is clearly wrong.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337560"/>
            <a:ext cx="11457432" cy="1143000"/>
          </a:xfrm>
          <a:prstGeom prst="rect">
            <a:avLst/>
          </a:prstGeom>
          <a:solidFill>
            <a:srgbClr val="E8F8EE"/>
          </a:solidFill>
          <a:ln w="1524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410712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A1A1A"/>
                </a:solidFill>
              </a:rPr>
              <a:t>✅  Fix: gap-aware trapezoidal rule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Skips any panel where the two endpoints are more than 2 hours apart.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Naive estimate: 9,543,357 ppm·h  →  Gap-aware: 2,305,836 ppm·h  (4× difference from bridging alone)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6177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B5C"/>
                </a:solidFill>
              </a:rPr>
              <a:t>Convergence check on a clean 41-hour gap-free window (1–3 Oct 2025):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5029200"/>
            <a:ext cx="2834640" cy="347472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506577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Bin size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5029200"/>
            <a:ext cx="2926080" cy="347472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64992" y="506577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Trapezoidal (ppm·h)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5029200"/>
            <a:ext cx="2926080" cy="347472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506577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Simpson (ppm·h)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81160" y="5029200"/>
            <a:ext cx="2834640" cy="347472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54312" y="506577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Agreement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376672"/>
            <a:ext cx="283464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544982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15 min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5376672"/>
            <a:ext cx="292608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64992" y="544982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17,817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5376672"/>
            <a:ext cx="292608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2512" y="544982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17,830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81160" y="5376672"/>
            <a:ext cx="283464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54312" y="544982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7A4A"/>
                </a:solidFill>
              </a:rPr>
              <a:t>0.07%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779008"/>
            <a:ext cx="2834640" cy="393192"/>
          </a:xfrm>
          <a:prstGeom prst="rect">
            <a:avLst/>
          </a:prstGeom>
          <a:solidFill>
            <a:srgbClr val="F5F8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5852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30 min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1840" y="5779008"/>
            <a:ext cx="2926080" cy="393192"/>
          </a:xfrm>
          <a:prstGeom prst="rect">
            <a:avLst/>
          </a:prstGeom>
          <a:solidFill>
            <a:srgbClr val="F5F8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64992" y="58521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18,020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5779008"/>
            <a:ext cx="2926080" cy="393192"/>
          </a:xfrm>
          <a:prstGeom prst="rect">
            <a:avLst/>
          </a:prstGeom>
          <a:solidFill>
            <a:srgbClr val="F5F8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82512" y="58521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18,020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81160" y="5779008"/>
            <a:ext cx="2834640" cy="393192"/>
          </a:xfrm>
          <a:prstGeom prst="rect">
            <a:avLst/>
          </a:prstGeom>
          <a:solidFill>
            <a:srgbClr val="F5F8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54312" y="5852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7A4A"/>
                </a:solidFill>
              </a:rPr>
              <a:t>0.001%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6181344"/>
            <a:ext cx="2834640" cy="393192"/>
          </a:xfrm>
          <a:prstGeom prst="rect">
            <a:avLst/>
          </a:prstGeom>
          <a:solidFill>
            <a:srgbClr val="F5F8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" y="625449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60 min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91840" y="6181344"/>
            <a:ext cx="2926080" cy="393192"/>
          </a:xfrm>
          <a:prstGeom prst="rect">
            <a:avLst/>
          </a:prstGeom>
          <a:solidFill>
            <a:srgbClr val="F5F8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64992" y="625449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17,584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6181344"/>
            <a:ext cx="2926080" cy="393192"/>
          </a:xfrm>
          <a:prstGeom prst="rect">
            <a:avLst/>
          </a:prstGeom>
          <a:solidFill>
            <a:srgbClr val="F5F8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82512" y="625449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17,572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81160" y="6181344"/>
            <a:ext cx="2834640" cy="393192"/>
          </a:xfrm>
          <a:prstGeom prst="rect">
            <a:avLst/>
          </a:prstGeom>
          <a:solidFill>
            <a:srgbClr val="F5F8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54312" y="625449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7A4A"/>
                </a:solidFill>
              </a:rPr>
              <a:t>0.07%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Limitations &amp; What We'd Do Differently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8FF"/>
                </a:solidFill>
              </a:rPr>
              <a:t>Honest about what worked and what didn't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62356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605272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5270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Sensor has no room location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5605272" cy="1783080"/>
          </a:xfrm>
          <a:prstGeom prst="rect">
            <a:avLst/>
          </a:prstGeom>
          <a:solidFill>
            <a:srgbClr val="FFFFFF"/>
          </a:solidFill>
          <a:ln w="1524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011680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Not in the official spreadsheet. Impossible to know which occupancy zone it belongs to — so the occupancy feature was always going to be a stretch.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463040"/>
            <a:ext cx="5605272" cy="457200"/>
          </a:xfrm>
          <a:prstGeom prst="rect">
            <a:avLst/>
          </a:prstGeom>
          <a:solidFill>
            <a:srgbClr val="D4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5270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R² ≈ 0.34 — only partial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920240"/>
            <a:ext cx="5605272" cy="1783080"/>
          </a:xfrm>
          <a:prstGeom prst="rect">
            <a:avLst/>
          </a:prstGeom>
          <a:solidFill>
            <a:srgbClr val="FFFFFF"/>
          </a:solidFill>
          <a:ln w="15240">
            <a:solidFill>
              <a:srgbClr val="D4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011680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The model captures about a third of what drives CO2. The rest is things we don't have data on: HVAC events, windows, doors, equipment.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94760"/>
            <a:ext cx="5605272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38587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Only 20% of rows usable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251960"/>
            <a:ext cx="5605272" cy="1783080"/>
          </a:xfrm>
          <a:prstGeom prst="rect">
            <a:avLst/>
          </a:prstGeom>
          <a:solidFill>
            <a:srgbClr val="FFFFFF"/>
          </a:solidFill>
          <a:ln w="1524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343400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The 636-day gap means most of the raw data cannot form a valid training row. A richer, more continuous dataset would help.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794760"/>
            <a:ext cx="5605272" cy="4572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38587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Can't generalise to other sensors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4251960"/>
            <a:ext cx="5605272" cy="1783080"/>
          </a:xfrm>
          <a:prstGeom prst="rect">
            <a:avLst/>
          </a:prstGeom>
          <a:solidFill>
            <a:srgbClr val="FFFFFF"/>
          </a:solidFill>
          <a:ln w="1524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343400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Results apply to this one sensor in this building. Whether occupancy helps elsewhere is a different question.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806440"/>
            <a:ext cx="11457432" cy="640080"/>
          </a:xfrm>
          <a:prstGeom prst="rect">
            <a:avLst/>
          </a:prstGeom>
          <a:solidFill>
            <a:srgbClr val="E8F0FA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888736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2B5C"/>
                </a:solidFill>
              </a:rPr>
              <a:t>If sensor room location were documented → could pick the matching zone, likely improving results.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8FF"/>
                </a:solidFill>
              </a:rPr>
              <a:t>What was done, what was found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62356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394960" cy="3291840"/>
          </a:xfrm>
          <a:prstGeom prst="rect">
            <a:avLst/>
          </a:prstGeom>
          <a:solidFill>
            <a:srgbClr val="E8F0FA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4864" cy="329184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90472"/>
            <a:ext cx="5029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A1A1A"/>
                </a:solidFill>
              </a:rPr>
              <a:t>What was done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Predicted CO2 15 min ahead using 4 regression models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Chronological train/test split — no data leakage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Tested occupancy feature with and without for all models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Applied Week 6 integration to calculate CO2 exposure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Found and fixed a real integration bug (gap bridging)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Validated sensor against Bureau of Meteorology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1417320"/>
            <a:ext cx="5742432" cy="3291840"/>
          </a:xfrm>
          <a:prstGeom prst="rect">
            <a:avLst/>
          </a:prstGeom>
          <a:solidFill>
            <a:srgbClr val="E8F0FA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1417320"/>
            <a:ext cx="54864" cy="329184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490472"/>
            <a:ext cx="5394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A1A1A"/>
                </a:solidFill>
              </a:rPr>
              <a:t>What was found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SVR best model: 8.35 ppm average error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R² ≈ 0.34 — moderate, reported honestly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Occupancy does NOT improve CO2 prediction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Sensor has no documented room — a real data gap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CO2 driven by ventilation, not individual room counts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2 of 5 sensors completely unusable (frozen clock)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846320"/>
            <a:ext cx="11457432" cy="9144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9194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C107"/>
                </a:solidFill>
              </a:rPr>
              <a:t>Best model: SVR  ·  MAE = 8.35 ppm  ·  R² = 0.342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321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C8FF"/>
                </a:solidFill>
              </a:rPr>
              <a:t>github.com/tgup0010-bot/mma3001-occupancy-prediction  ·  All numbers reproducible from scripts in reports/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897880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</a:rPr>
              <a:t>Tanmay Gupta  ·  MMA3001  ·  Monash University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